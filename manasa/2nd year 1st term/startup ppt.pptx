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A0C3B-A757-43D0-A0BF-A3CE992E03F2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0F02F-749B-47C1-98B1-04E001791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86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0F02F-749B-47C1-98B1-04E0017913F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600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FB41-9671-4122-5E60-033DA4587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4359" y="2450653"/>
            <a:ext cx="7018364" cy="2123768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/>
              <a:t>Marketing Strategies for Early-Stage Startups</a:t>
            </a:r>
            <a:endParaRPr lang="en-IN" dirty="0"/>
          </a:p>
        </p:txBody>
      </p:sp>
      <p:pic>
        <p:nvPicPr>
          <p:cNvPr id="7170" name="Picture 2" descr="3 Marketing Strategies Perfect For ...">
            <a:extLst>
              <a:ext uri="{FF2B5EF4-FFF2-40B4-BE49-F238E27FC236}">
                <a16:creationId xmlns:a16="http://schemas.microsoft.com/office/drawing/2014/main" id="{8DE4EAAF-8E27-A9FD-29ED-AF38B9EED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816" y="816078"/>
            <a:ext cx="2619375" cy="403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5EE73E-2BA7-1D56-873D-ADFB4DFEFA46}"/>
              </a:ext>
            </a:extLst>
          </p:cNvPr>
          <p:cNvSpPr txBox="1"/>
          <p:nvPr/>
        </p:nvSpPr>
        <p:spPr>
          <a:xfrm>
            <a:off x="1771925" y="137771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DEPARTMENT OF CSE – DS</a:t>
            </a:r>
            <a:br>
              <a:rPr lang="en-US" dirty="0"/>
            </a:br>
            <a:r>
              <a:rPr lang="en-US" dirty="0"/>
              <a:t>II YEAR I TERM</a:t>
            </a:r>
            <a:br>
              <a:rPr lang="en-US" dirty="0"/>
            </a:br>
            <a:r>
              <a:rPr lang="en-US" dirty="0"/>
              <a:t>AURORA HIGHER EDUCATION AND RESEARCH ACADEMY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06AA2-830B-D06A-D365-BA7F390A3133}"/>
              </a:ext>
            </a:extLst>
          </p:cNvPr>
          <p:cNvSpPr txBox="1"/>
          <p:nvPr/>
        </p:nvSpPr>
        <p:spPr>
          <a:xfrm>
            <a:off x="9472183" y="5058299"/>
            <a:ext cx="26193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Presented By:</a:t>
            </a:r>
            <a:br>
              <a:rPr lang="en-IN" dirty="0"/>
            </a:br>
            <a:r>
              <a:rPr lang="en-IN" dirty="0"/>
              <a:t>M. Sai Vardhan Reddy – 241U1R3001</a:t>
            </a:r>
            <a:br>
              <a:rPr lang="en-IN" dirty="0"/>
            </a:br>
            <a:r>
              <a:rPr lang="en-IN" dirty="0"/>
              <a:t>G. Manasa – 241U1R3007</a:t>
            </a:r>
            <a:br>
              <a:rPr lang="en-IN" dirty="0"/>
            </a:br>
            <a:r>
              <a:rPr lang="en-IN" dirty="0"/>
              <a:t>M. Naveen – 241U1R3004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677C5-EEA9-9D90-CEC8-8F6FAFACBAC5}"/>
              </a:ext>
            </a:extLst>
          </p:cNvPr>
          <p:cNvSpPr txBox="1"/>
          <p:nvPr/>
        </p:nvSpPr>
        <p:spPr>
          <a:xfrm>
            <a:off x="353962" y="579696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Course Instructor:</a:t>
            </a:r>
            <a:br>
              <a:rPr lang="en-US" dirty="0"/>
            </a:br>
            <a:r>
              <a:rPr lang="en-US" dirty="0"/>
              <a:t>Meghana Bandi</a:t>
            </a:r>
            <a:br>
              <a:rPr lang="en-US" dirty="0"/>
            </a:br>
            <a:r>
              <a:rPr lang="en-US" dirty="0"/>
              <a:t>AURORA DEEMED TO BE UNIVERSITY</a:t>
            </a:r>
            <a:endParaRPr lang="en-IN" dirty="0"/>
          </a:p>
        </p:txBody>
      </p:sp>
      <p:pic>
        <p:nvPicPr>
          <p:cNvPr id="10" name="Picture 3" descr="C:\Users\Ravikanth\Desktop\AURORA LOGO.jpg">
            <a:extLst>
              <a:ext uri="{FF2B5EF4-FFF2-40B4-BE49-F238E27FC236}">
                <a16:creationId xmlns:a16="http://schemas.microsoft.com/office/drawing/2014/main" id="{169AF74F-803B-E034-2762-0B5FCA7BE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950" y="816078"/>
            <a:ext cx="837820" cy="743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4CB88C-05DE-702D-C99E-26DE24F222FB}"/>
              </a:ext>
            </a:extLst>
          </p:cNvPr>
          <p:cNvSpPr txBox="1"/>
          <p:nvPr/>
        </p:nvSpPr>
        <p:spPr>
          <a:xfrm>
            <a:off x="-1720645" y="18167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AURORA </a:t>
            </a:r>
            <a:r>
              <a:rPr lang="en-US" altLang="en-US" sz="1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DEEMED TO BE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UNIVERSITY</a:t>
            </a:r>
            <a:endParaRPr lang="en-US" altLang="en-US" sz="18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90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7159-A059-134F-E593-26F1A9CC213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E6E59-A1F0-B7EC-7E3F-8E1AEDEFB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959" y="0"/>
            <a:ext cx="7315200" cy="5120640"/>
          </a:xfrm>
        </p:spPr>
        <p:txBody>
          <a:bodyPr/>
          <a:lstStyle/>
          <a:p>
            <a:r>
              <a:rPr lang="en-US" dirty="0"/>
              <a:t>Startups face high risk but also high opportunity.</a:t>
            </a:r>
          </a:p>
          <a:p>
            <a:r>
              <a:rPr lang="en-US" dirty="0"/>
              <a:t>Marketing gives direction by helping startups find customers and grow faster.</a:t>
            </a:r>
          </a:p>
          <a:p>
            <a:r>
              <a:rPr lang="en-US" dirty="0"/>
              <a:t>Smart marketing does not always need big money; it needs creativity and planning.</a:t>
            </a:r>
          </a:p>
          <a:p>
            <a:pPr marL="0" indent="0">
              <a:buNone/>
            </a:pPr>
            <a:r>
              <a:rPr lang="en-US" dirty="0"/>
              <a:t>Many startups like </a:t>
            </a:r>
            <a:r>
              <a:rPr lang="en-US" b="1" dirty="0"/>
              <a:t>OYO Rooms</a:t>
            </a:r>
            <a:r>
              <a:rPr lang="en-US" dirty="0"/>
              <a:t> and </a:t>
            </a:r>
            <a:r>
              <a:rPr lang="en-US" b="1" dirty="0" err="1"/>
              <a:t>Byju’s</a:t>
            </a:r>
            <a:r>
              <a:rPr lang="en-US" dirty="0"/>
              <a:t> used low-cost marketing at the beginning to attract their first customers.</a:t>
            </a:r>
          </a:p>
          <a:p>
            <a:endParaRPr lang="en-IN" dirty="0"/>
          </a:p>
        </p:txBody>
      </p:sp>
      <p:pic>
        <p:nvPicPr>
          <p:cNvPr id="1026" name="Picture 2" descr="Marketing Strategies for Early-Stage ...">
            <a:extLst>
              <a:ext uri="{FF2B5EF4-FFF2-40B4-BE49-F238E27FC236}">
                <a16:creationId xmlns:a16="http://schemas.microsoft.com/office/drawing/2014/main" id="{2754A3E3-15C8-7B77-B73C-7BE63387F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283" y="3971592"/>
            <a:ext cx="3817988" cy="213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34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F406-96A7-9A14-E274-6FF9CBFA7DF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Why Marketing is Important for Startups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74689-D54D-5525-4B40-47BADD6CC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Builds </a:t>
            </a:r>
            <a:r>
              <a:rPr lang="en-US" b="1" dirty="0"/>
              <a:t>brand identity</a:t>
            </a:r>
            <a:r>
              <a:rPr lang="en-US" dirty="0"/>
              <a:t> → Customers remember the name.</a:t>
            </a:r>
          </a:p>
          <a:p>
            <a:r>
              <a:rPr lang="en-US" dirty="0"/>
              <a:t>Attracts </a:t>
            </a:r>
            <a:r>
              <a:rPr lang="en-US" b="1" dirty="0"/>
              <a:t>first set of customers</a:t>
            </a:r>
            <a:r>
              <a:rPr lang="en-US" dirty="0"/>
              <a:t> → Converts ideas into sales.</a:t>
            </a:r>
          </a:p>
          <a:p>
            <a:r>
              <a:rPr lang="en-US" dirty="0"/>
              <a:t>Creates </a:t>
            </a:r>
            <a:r>
              <a:rPr lang="en-US" b="1" dirty="0"/>
              <a:t>trust</a:t>
            </a:r>
            <a:r>
              <a:rPr lang="en-US" dirty="0"/>
              <a:t> → Customers believe in the product.</a:t>
            </a:r>
          </a:p>
          <a:p>
            <a:r>
              <a:rPr lang="en-US" dirty="0"/>
              <a:t>Helps compete with </a:t>
            </a:r>
            <a:r>
              <a:rPr lang="en-US" b="1" dirty="0"/>
              <a:t>big companies</a:t>
            </a:r>
            <a:r>
              <a:rPr lang="en-US" dirty="0"/>
              <a:t> → Position in the market.</a:t>
            </a:r>
          </a:p>
          <a:p>
            <a:r>
              <a:rPr lang="en-US" dirty="0"/>
              <a:t>Supports </a:t>
            </a:r>
            <a:r>
              <a:rPr lang="en-US" b="1" dirty="0"/>
              <a:t>long-term growth</a:t>
            </a:r>
            <a:r>
              <a:rPr lang="en-US" dirty="0"/>
              <a:t> → Continuous customer flow.</a:t>
            </a:r>
          </a:p>
          <a:p>
            <a:pPr marL="0" indent="0">
              <a:buNone/>
            </a:pPr>
            <a:r>
              <a:rPr lang="en-US" dirty="0"/>
              <a:t> Flipkart built its brand identity by focusing on trust (Cash on Delivery).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38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92FF-736F-F951-F163-A6CC11F101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Challenges Faced by Startups in Marketing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2A4B-38BC-5D7B-C98D-17580F77F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Limited budget and fewer resources.</a:t>
            </a:r>
          </a:p>
          <a:p>
            <a:r>
              <a:rPr lang="en-US" dirty="0"/>
              <a:t>Difficult to reach the right target audience.</a:t>
            </a:r>
          </a:p>
          <a:p>
            <a:r>
              <a:rPr lang="en-US" dirty="0"/>
              <a:t>Tough competition from big brands.</a:t>
            </a:r>
          </a:p>
          <a:p>
            <a:r>
              <a:rPr lang="en-US" dirty="0"/>
              <a:t>Less customer awareness about new product.</a:t>
            </a:r>
          </a:p>
          <a:p>
            <a:r>
              <a:rPr lang="en-US" dirty="0"/>
              <a:t>Marketing efforts must show quick results.</a:t>
            </a:r>
          </a:p>
          <a:p>
            <a:pPr marL="0" indent="0">
              <a:buNone/>
            </a:pPr>
            <a:r>
              <a:rPr lang="en-US" dirty="0"/>
              <a:t> A new food delivery startup may struggle to compete with Swiggy and Zomato without a unique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69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91E3-D27B-E24A-4BAF-B54B8C2FE05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Key Elements of Startup Marketing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46A58-1F95-C51A-92E6-652F999AD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</a:t>
            </a:r>
            <a:r>
              <a:rPr lang="en-US" b="1" dirty="0"/>
              <a:t>Target Audience</a:t>
            </a:r>
            <a:r>
              <a:rPr lang="en-US" dirty="0"/>
              <a:t> → Who will buy?</a:t>
            </a:r>
          </a:p>
          <a:p>
            <a:r>
              <a:rPr lang="en-US" dirty="0"/>
              <a:t>Create </a:t>
            </a:r>
            <a:r>
              <a:rPr lang="en-US" b="1" dirty="0"/>
              <a:t>Unique Value Proposition (USP)</a:t>
            </a:r>
            <a:r>
              <a:rPr lang="en-US" dirty="0"/>
              <a:t> → Why should they buy?</a:t>
            </a:r>
          </a:p>
          <a:p>
            <a:r>
              <a:rPr lang="en-US" dirty="0"/>
              <a:t>Build a </a:t>
            </a:r>
            <a:r>
              <a:rPr lang="en-US" b="1" dirty="0"/>
              <a:t>Brand Identity</a:t>
            </a:r>
            <a:r>
              <a:rPr lang="en-US" dirty="0"/>
              <a:t> → Logo, message, values.</a:t>
            </a:r>
          </a:p>
          <a:p>
            <a:r>
              <a:rPr lang="en-US" dirty="0"/>
              <a:t>Choose </a:t>
            </a:r>
            <a:r>
              <a:rPr lang="en-US" b="1" dirty="0"/>
              <a:t>Marketing Channels</a:t>
            </a:r>
            <a:r>
              <a:rPr lang="en-US" dirty="0"/>
              <a:t> → Online/offline methods.</a:t>
            </a:r>
          </a:p>
          <a:p>
            <a:r>
              <a:rPr lang="en-US" dirty="0"/>
              <a:t>Track and </a:t>
            </a:r>
            <a:r>
              <a:rPr lang="en-US" b="1" dirty="0"/>
              <a:t>Measure Results</a:t>
            </a:r>
            <a:r>
              <a:rPr lang="en-US" dirty="0"/>
              <a:t> → Improve regularly.</a:t>
            </a:r>
          </a:p>
          <a:p>
            <a:pPr marL="0" indent="0">
              <a:buNone/>
            </a:pPr>
            <a:r>
              <a:rPr lang="en-US" dirty="0"/>
              <a:t>Tesla created USP as “sustainable luxury cars,” which made them stand out.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86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F1F3-E46E-9E4F-4D7E-7A38ED311C6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Low-Cost Marketing Strategies</a:t>
            </a:r>
          </a:p>
        </p:txBody>
      </p:sp>
      <p:sp>
        <p:nvSpPr>
          <p:cNvPr id="9" name="AutoShape 12" descr="20+ Essential low-cost marketing strategies for your business">
            <a:extLst>
              <a:ext uri="{FF2B5EF4-FFF2-40B4-BE49-F238E27FC236}">
                <a16:creationId xmlns:a16="http://schemas.microsoft.com/office/drawing/2014/main" id="{7A42A4C5-8343-7B1C-1C58-33A9781EEED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584132" y="814948"/>
            <a:ext cx="7801623" cy="4772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Use free social media platforms.</a:t>
            </a:r>
          </a:p>
          <a:p>
            <a:r>
              <a:rPr lang="en-US" dirty="0"/>
              <a:t>Create blogs, videos, and podcasts.</a:t>
            </a:r>
          </a:p>
          <a:p>
            <a:r>
              <a:rPr lang="en-US" dirty="0"/>
              <a:t>Build community groups (WhatsApp, Telegram).</a:t>
            </a:r>
          </a:p>
          <a:p>
            <a:r>
              <a:rPr lang="en-US" dirty="0"/>
              <a:t>Collaborate with other startups.</a:t>
            </a:r>
          </a:p>
          <a:p>
            <a:r>
              <a:rPr lang="en-US" dirty="0"/>
              <a:t>Attend local events.</a:t>
            </a:r>
          </a:p>
          <a:p>
            <a:pPr marL="0" indent="0">
              <a:buNone/>
            </a:pPr>
            <a:r>
              <a:rPr lang="en-US" dirty="0"/>
              <a:t> Mamaearth grew quickly by using social media ads and parenting blogs instead of expensive TV ads.</a:t>
            </a:r>
          </a:p>
        </p:txBody>
      </p:sp>
      <p:pic>
        <p:nvPicPr>
          <p:cNvPr id="3086" name="Picture 14" descr="Low-Cost &amp; Effective Content Marketing Strategies For Startups -">
            <a:extLst>
              <a:ext uri="{FF2B5EF4-FFF2-40B4-BE49-F238E27FC236}">
                <a16:creationId xmlns:a16="http://schemas.microsoft.com/office/drawing/2014/main" id="{B478130C-8267-D269-E195-9767C034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905" y="3653813"/>
            <a:ext cx="3807850" cy="238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82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B6E0-D424-8A2A-4C18-CEC17ABB392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Social Media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6918E-C7EC-2139-D42F-5AF7FDD7B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781" y="375408"/>
            <a:ext cx="7054920" cy="4265234"/>
          </a:xfrm>
        </p:spPr>
        <p:txBody>
          <a:bodyPr/>
          <a:lstStyle/>
          <a:p>
            <a:r>
              <a:rPr lang="en-IN" dirty="0"/>
              <a:t>Use </a:t>
            </a:r>
            <a:r>
              <a:rPr lang="en-IN" b="1" dirty="0"/>
              <a:t>Instagram, Facebook, LinkedIn, Twitter</a:t>
            </a:r>
            <a:r>
              <a:rPr lang="en-IN" dirty="0"/>
              <a:t> for updates.</a:t>
            </a:r>
          </a:p>
          <a:p>
            <a:r>
              <a:rPr lang="en-IN" dirty="0"/>
              <a:t>Post product features, customer stories, short videos.</a:t>
            </a:r>
          </a:p>
          <a:p>
            <a:r>
              <a:rPr lang="en-IN" dirty="0"/>
              <a:t>Use hashtags, polls, Q&amp;A for engagement.</a:t>
            </a:r>
          </a:p>
          <a:p>
            <a:r>
              <a:rPr lang="en-IN" dirty="0"/>
              <a:t>Build a loyal customer community.</a:t>
            </a:r>
          </a:p>
          <a:p>
            <a:r>
              <a:rPr lang="en-IN" b="1" dirty="0"/>
              <a:t>Zomato</a:t>
            </a:r>
            <a:r>
              <a:rPr lang="en-IN" dirty="0"/>
              <a:t> became popular using funny Twitter and Instagram posts.</a:t>
            </a:r>
          </a:p>
          <a:p>
            <a:endParaRPr lang="en-IN" dirty="0"/>
          </a:p>
        </p:txBody>
      </p:sp>
      <p:pic>
        <p:nvPicPr>
          <p:cNvPr id="5124" name="Picture 4" descr="Social Media Marketing 101: A Beginner ...">
            <a:extLst>
              <a:ext uri="{FF2B5EF4-FFF2-40B4-BE49-F238E27FC236}">
                <a16:creationId xmlns:a16="http://schemas.microsoft.com/office/drawing/2014/main" id="{3CADCFF8-3D37-684D-58DD-83DDD9535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941" y="3601370"/>
            <a:ext cx="4999448" cy="261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92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C587-3174-8F3A-E129-0572C7972FF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Content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02353-08F4-5E1E-71EC-FE61103E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1785" y="1031254"/>
            <a:ext cx="7467326" cy="3058965"/>
          </a:xfrm>
        </p:spPr>
        <p:txBody>
          <a:bodyPr/>
          <a:lstStyle/>
          <a:p>
            <a:r>
              <a:rPr lang="en-US" dirty="0"/>
              <a:t>Write helpful blogs, tutorials, and guides.</a:t>
            </a:r>
          </a:p>
          <a:p>
            <a:r>
              <a:rPr lang="en-US" dirty="0"/>
              <a:t>Share videos, infographics, and e-books.</a:t>
            </a:r>
          </a:p>
          <a:p>
            <a:r>
              <a:rPr lang="en-US" dirty="0"/>
              <a:t>Educate customers instead of only selling.</a:t>
            </a:r>
          </a:p>
          <a:p>
            <a:r>
              <a:rPr lang="en-US" dirty="0"/>
              <a:t>Improve visibility through SEO.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 err="1"/>
              <a:t>Byju’s</a:t>
            </a:r>
            <a:r>
              <a:rPr lang="en-US" dirty="0"/>
              <a:t> built trust by giving free learning videos to students before selling full courses.</a:t>
            </a:r>
          </a:p>
          <a:p>
            <a:endParaRPr lang="en-IN" dirty="0"/>
          </a:p>
        </p:txBody>
      </p:sp>
      <p:pic>
        <p:nvPicPr>
          <p:cNvPr id="6146" name="Picture 2" descr="Attracting and Retaining Customers ...">
            <a:extLst>
              <a:ext uri="{FF2B5EF4-FFF2-40B4-BE49-F238E27FC236}">
                <a16:creationId xmlns:a16="http://schemas.microsoft.com/office/drawing/2014/main" id="{5EF62EC7-C0CA-57AA-8AB8-ED52B19E4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890" y="3588414"/>
            <a:ext cx="4004955" cy="28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70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5083-B43B-217E-19C2-0581F1A927B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Influencer &amp; Referral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0A371-2C7F-4577-A958-3CA008D3D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85313" cy="3363763"/>
          </a:xfrm>
        </p:spPr>
        <p:txBody>
          <a:bodyPr/>
          <a:lstStyle/>
          <a:p>
            <a:r>
              <a:rPr lang="en-US" dirty="0"/>
              <a:t>Work with small influencers who connect with audience.</a:t>
            </a:r>
          </a:p>
          <a:p>
            <a:r>
              <a:rPr lang="en-US" dirty="0"/>
              <a:t>Offer free product trials to influencers.</a:t>
            </a:r>
          </a:p>
          <a:p>
            <a:r>
              <a:rPr lang="en-US" dirty="0"/>
              <a:t>Ask satisfied customers to refer friends.</a:t>
            </a:r>
          </a:p>
          <a:p>
            <a:r>
              <a:rPr lang="en-US" dirty="0"/>
              <a:t>Give rewards (discounts, coupons) for referrals.</a:t>
            </a:r>
          </a:p>
          <a:p>
            <a:pPr marL="0" indent="0">
              <a:buNone/>
            </a:pPr>
            <a:r>
              <a:rPr lang="en-US" dirty="0"/>
              <a:t> Paytm and </a:t>
            </a:r>
            <a:r>
              <a:rPr lang="en-US" dirty="0" err="1"/>
              <a:t>PhonePe</a:t>
            </a:r>
            <a:r>
              <a:rPr lang="en-US" dirty="0"/>
              <a:t> gave cashback for referrals to grow their customer base.</a:t>
            </a:r>
          </a:p>
          <a:p>
            <a:endParaRPr lang="en-IN" dirty="0"/>
          </a:p>
        </p:txBody>
      </p:sp>
      <p:pic>
        <p:nvPicPr>
          <p:cNvPr id="8194" name="Picture 2" descr="Referral Marketing Explained: Ideas for ...">
            <a:extLst>
              <a:ext uri="{FF2B5EF4-FFF2-40B4-BE49-F238E27FC236}">
                <a16:creationId xmlns:a16="http://schemas.microsoft.com/office/drawing/2014/main" id="{9C1A000C-C637-607C-2329-66B0CD86B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559" y="3650533"/>
            <a:ext cx="4721021" cy="246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5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25B3-737B-3C9F-EDAA-83477720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202495"/>
            <a:ext cx="2947482" cy="4601183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Events and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E9F8-B4BC-B1ED-44BC-BBFD5837F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703300" cy="3580073"/>
          </a:xfrm>
        </p:spPr>
        <p:txBody>
          <a:bodyPr/>
          <a:lstStyle/>
          <a:p>
            <a:r>
              <a:rPr lang="en-US" dirty="0"/>
              <a:t>Attend local startup events and pitch competitions.</a:t>
            </a:r>
          </a:p>
          <a:p>
            <a:r>
              <a:rPr lang="en-US" dirty="0"/>
              <a:t>Join online forums and startup communities.</a:t>
            </a:r>
          </a:p>
          <a:p>
            <a:r>
              <a:rPr lang="en-US" dirty="0"/>
              <a:t>Build partnerships with other businesses.</a:t>
            </a:r>
          </a:p>
          <a:p>
            <a:r>
              <a:rPr lang="en-US" dirty="0"/>
              <a:t>Increase visibility with word-of-mouth.</a:t>
            </a:r>
          </a:p>
          <a:p>
            <a:pPr marL="0" indent="0">
              <a:buNone/>
            </a:pPr>
            <a:r>
              <a:rPr lang="en-US" dirty="0"/>
              <a:t> Ola started by networking at college fests and startup events to get attention.</a:t>
            </a:r>
          </a:p>
          <a:p>
            <a:endParaRPr lang="en-IN" dirty="0"/>
          </a:p>
        </p:txBody>
      </p:sp>
      <p:pic>
        <p:nvPicPr>
          <p:cNvPr id="9218" name="Picture 2" descr="Benefits of Attending Networking Events ...">
            <a:extLst>
              <a:ext uri="{FF2B5EF4-FFF2-40B4-BE49-F238E27FC236}">
                <a16:creationId xmlns:a16="http://schemas.microsoft.com/office/drawing/2014/main" id="{58A7A7B5-D945-C377-7AA6-A4A55A39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610" y="3567343"/>
            <a:ext cx="3403652" cy="2236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812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3BDE-3092-7AF3-86E6-F88C26F49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64" y="1065283"/>
            <a:ext cx="2947482" cy="4601183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Paid Advertising (Smart Use)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D2DCB-1184-4AF4-5076-1CFCB0EC9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26319" cy="3226111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Google Ads</a:t>
            </a:r>
            <a:r>
              <a:rPr lang="en-US" dirty="0"/>
              <a:t> and </a:t>
            </a:r>
            <a:r>
              <a:rPr lang="en-US" b="1" dirty="0"/>
              <a:t>Facebook Ads</a:t>
            </a:r>
            <a:r>
              <a:rPr lang="en-US" dirty="0"/>
              <a:t> with small budget.</a:t>
            </a:r>
          </a:p>
          <a:p>
            <a:r>
              <a:rPr lang="en-US" dirty="0"/>
              <a:t>Target specific locations, age groups, and interests.</a:t>
            </a:r>
          </a:p>
          <a:p>
            <a:r>
              <a:rPr lang="en-US" dirty="0"/>
              <a:t>Start small, test, then increase budget.</a:t>
            </a:r>
          </a:p>
          <a:p>
            <a:r>
              <a:rPr lang="en-US" dirty="0"/>
              <a:t>Avoid wasting money on wrong audience.</a:t>
            </a:r>
          </a:p>
          <a:p>
            <a:pPr marL="0" indent="0">
              <a:buNone/>
            </a:pPr>
            <a:r>
              <a:rPr lang="en-US" dirty="0"/>
              <a:t> A new café can target ads only to people nearby using Google Maps ads.</a:t>
            </a:r>
          </a:p>
          <a:p>
            <a:endParaRPr lang="en-IN" dirty="0"/>
          </a:p>
        </p:txBody>
      </p:sp>
      <p:pic>
        <p:nvPicPr>
          <p:cNvPr id="10242" name="Picture 2" descr="9 Types of Paid Advertising to Grow ...">
            <a:extLst>
              <a:ext uri="{FF2B5EF4-FFF2-40B4-BE49-F238E27FC236}">
                <a16:creationId xmlns:a16="http://schemas.microsoft.com/office/drawing/2014/main" id="{CDF601EC-21F9-9610-F9F6-69809CCAD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041" y="3552054"/>
            <a:ext cx="3669429" cy="24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006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AFA0-5DDD-D52E-EB18-09592E6671D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/>
              <a:t>Measuring Marketing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78EA3-917B-1CB4-6B36-BE249FD19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693467" cy="3127789"/>
          </a:xfrm>
        </p:spPr>
        <p:txBody>
          <a:bodyPr/>
          <a:lstStyle/>
          <a:p>
            <a:r>
              <a:rPr lang="en-US" dirty="0"/>
              <a:t>Track customer visits, clicks, and conversions.</a:t>
            </a:r>
          </a:p>
          <a:p>
            <a:r>
              <a:rPr lang="en-US" dirty="0"/>
              <a:t>Use free tools like </a:t>
            </a:r>
            <a:r>
              <a:rPr lang="en-US" b="1" dirty="0"/>
              <a:t>Google Analytics</a:t>
            </a:r>
            <a:r>
              <a:rPr lang="en-US" dirty="0"/>
              <a:t>.</a:t>
            </a:r>
          </a:p>
          <a:p>
            <a:r>
              <a:rPr lang="en-US" dirty="0"/>
              <a:t>Monitor customer feedback and reviews.</a:t>
            </a:r>
          </a:p>
          <a:p>
            <a:r>
              <a:rPr lang="en-US" dirty="0"/>
              <a:t>Improve campaigns using data.</a:t>
            </a:r>
          </a:p>
          <a:p>
            <a:pPr marL="0" indent="0">
              <a:buNone/>
            </a:pPr>
            <a:r>
              <a:rPr lang="en-US" dirty="0"/>
              <a:t> Startups like Swiggy track which ads bring the most orders and adjust strategy.</a:t>
            </a:r>
          </a:p>
          <a:p>
            <a:endParaRPr lang="en-IN" dirty="0"/>
          </a:p>
        </p:txBody>
      </p:sp>
      <p:pic>
        <p:nvPicPr>
          <p:cNvPr id="11266" name="Picture 2" descr="How to Measure Digital Marketing Success | Watch the Video">
            <a:extLst>
              <a:ext uri="{FF2B5EF4-FFF2-40B4-BE49-F238E27FC236}">
                <a16:creationId xmlns:a16="http://schemas.microsoft.com/office/drawing/2014/main" id="{E642EF9C-0CD3-9C8F-4BCB-1CAA89F50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165" y="3156154"/>
            <a:ext cx="4754443" cy="325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696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8E79-9613-0D3C-B738-C9A9188D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596" y="1000924"/>
            <a:ext cx="6111830" cy="54018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Case Example – Zomato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CB05C-DEC2-2754-9675-281AC13C3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56703" y="2244015"/>
            <a:ext cx="7371736" cy="341936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Began as a restaurant review site with blogs.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social media posts to attract food lovers.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Offered discounts and referral programs.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Built a large base of loyal users quickly.</a:t>
            </a:r>
          </a:p>
          <a:p>
            <a:r>
              <a:rPr lang="en-US" sz="2000" dirty="0"/>
              <a:t> Other food startups can learn from Zomato’s “content first, product later” approach.</a:t>
            </a:r>
          </a:p>
          <a:p>
            <a:endParaRPr lang="en-IN" dirty="0"/>
          </a:p>
        </p:txBody>
      </p:sp>
      <p:pic>
        <p:nvPicPr>
          <p:cNvPr id="12290" name="Picture 2" descr="Zomato Case Study-Marketing Strategy ...">
            <a:extLst>
              <a:ext uri="{FF2B5EF4-FFF2-40B4-BE49-F238E27FC236}">
                <a16:creationId xmlns:a16="http://schemas.microsoft.com/office/drawing/2014/main" id="{F278B63D-0AB5-DEAB-5491-6F1B3744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9" y="1098141"/>
            <a:ext cx="2552700" cy="17907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Zomato Marketing Strategy- A Detailed ...">
            <a:extLst>
              <a:ext uri="{FF2B5EF4-FFF2-40B4-BE49-F238E27FC236}">
                <a16:creationId xmlns:a16="http://schemas.microsoft.com/office/drawing/2014/main" id="{22D58572-B03F-7C80-8254-8120614C3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84" y="3429000"/>
            <a:ext cx="2762250" cy="16573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78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B8A0-2D39-2FD0-F0C8-C3E454848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5891391" cy="746662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C22CC-67FF-66DF-F7BF-A5AFA5C73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910" y="2369574"/>
            <a:ext cx="7816645" cy="321507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Marketing is the lifeline for startups.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Focus on low-cost but high-impact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Build strong customer relationships.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Always measure results and adapt.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With the right marketing, startups can compete with big brands.</a:t>
            </a:r>
          </a:p>
          <a:p>
            <a:r>
              <a:rPr lang="en-US" dirty="0">
                <a:solidFill>
                  <a:schemeClr val="tx1"/>
                </a:solidFill>
              </a:rPr>
              <a:t> A startup with smart marketing can grow like </a:t>
            </a:r>
            <a:r>
              <a:rPr lang="en-US" b="1" dirty="0">
                <a:solidFill>
                  <a:schemeClr val="tx1"/>
                </a:solidFill>
              </a:rPr>
              <a:t>OYO, Swiggy, or Mamaearth</a:t>
            </a:r>
            <a:r>
              <a:rPr lang="en-US" dirty="0">
                <a:solidFill>
                  <a:schemeClr val="tx1"/>
                </a:solidFill>
              </a:rPr>
              <a:t>, which began small but became household names.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42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Thank You by Jewel Paper Co | Cardly">
            <a:extLst>
              <a:ext uri="{FF2B5EF4-FFF2-40B4-BE49-F238E27FC236}">
                <a16:creationId xmlns:a16="http://schemas.microsoft.com/office/drawing/2014/main" id="{C759DCCC-C42A-B707-0899-CC6FFC560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066" y="1220631"/>
            <a:ext cx="5863867" cy="425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24715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36</TotalTime>
  <Words>781</Words>
  <Application>Microsoft Office PowerPoint</Application>
  <PresentationFormat>Widescreen</PresentationFormat>
  <Paragraphs>89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Corbel</vt:lpstr>
      <vt:lpstr>Times New Roman</vt:lpstr>
      <vt:lpstr>Wingdings 2</vt:lpstr>
      <vt:lpstr>Frame</vt:lpstr>
      <vt:lpstr>Marketing Strategies for Early-Stage Startups</vt:lpstr>
      <vt:lpstr>Introduction</vt:lpstr>
      <vt:lpstr>Why Marketing is Important for Startups</vt:lpstr>
      <vt:lpstr>Challenges Faced by Startups in Marketing</vt:lpstr>
      <vt:lpstr>Key Elements of Startup Marketing</vt:lpstr>
      <vt:lpstr>Low-Cost Marketing Strategies</vt:lpstr>
      <vt:lpstr>Social Media Marketing</vt:lpstr>
      <vt:lpstr>Content Marketing</vt:lpstr>
      <vt:lpstr>Influencer &amp; Referral Marketing</vt:lpstr>
      <vt:lpstr>Events and Networking</vt:lpstr>
      <vt:lpstr>Paid Advertising (Smart Use)</vt:lpstr>
      <vt:lpstr>Measuring Marketing Success</vt:lpstr>
      <vt:lpstr>Case Example – Zomato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vamshi krishna</dc:creator>
  <cp:lastModifiedBy>vamshi krishna</cp:lastModifiedBy>
  <cp:revision>1</cp:revision>
  <dcterms:created xsi:type="dcterms:W3CDTF">2025-09-01T14:35:07Z</dcterms:created>
  <dcterms:modified xsi:type="dcterms:W3CDTF">2025-09-01T15:11:50Z</dcterms:modified>
</cp:coreProperties>
</file>